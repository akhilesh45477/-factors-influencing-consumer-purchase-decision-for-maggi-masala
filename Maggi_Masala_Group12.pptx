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oppins Bold" charset="1" panose="00000800000000000000"/>
      <p:regular r:id="rId17"/>
    </p:embeddedFont>
    <p:embeddedFont>
      <p:font typeface="Poppins Semi-Bold" charset="1" panose="00000700000000000000"/>
      <p:regular r:id="rId18"/>
    </p:embeddedFont>
    <p:embeddedFont>
      <p:font typeface="Canva Sans" charset="1" panose="020B0503030501040103"/>
      <p:regular r:id="rId19"/>
    </p:embeddedFont>
    <p:embeddedFont>
      <p:font typeface="Poppins" charset="1" panose="00000500000000000000"/>
      <p:regular r:id="rId20"/>
    </p:embeddedFont>
    <p:embeddedFont>
      <p:font typeface="Arimo" charset="1" panose="020B0604020202020204"/>
      <p:regular r:id="rId21"/>
    </p:embeddedFont>
    <p:embeddedFont>
      <p:font typeface="Canva Sans Bold" charset="1" panose="020B08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14" Target="https://forms.gle/rhfBDwDsTg8E2jHz5" TargetMode="External" Type="http://schemas.openxmlformats.org/officeDocument/2006/relationships/hyperlink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png" Type="http://schemas.openxmlformats.org/officeDocument/2006/relationships/image"/><Relationship Id="rId12" Target="../media/image28.png" Type="http://schemas.openxmlformats.org/officeDocument/2006/relationships/image"/><Relationship Id="rId13" Target="../media/image29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618170" y="-2203142"/>
            <a:ext cx="5850108" cy="14300658"/>
            <a:chOff x="0" y="0"/>
            <a:chExt cx="660400" cy="16143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1614356"/>
            </a:xfrm>
            <a:custGeom>
              <a:avLst/>
              <a:gdLst/>
              <a:ahLst/>
              <a:cxnLst/>
              <a:rect r="r" b="b" t="t" l="l"/>
              <a:pathLst>
                <a:path h="1614356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46307"/>
                  </a:cubicBezTo>
                  <a:lnTo>
                    <a:pt x="660400" y="1614356"/>
                  </a:lnTo>
                  <a:lnTo>
                    <a:pt x="0" y="1614356"/>
                  </a:lnTo>
                  <a:lnTo>
                    <a:pt x="0" y="347248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FC900"/>
            </a:solidFill>
            <a:ln w="57150" cap="sq">
              <a:solidFill>
                <a:srgbClr val="FFF89A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60325"/>
              <a:ext cx="660400" cy="1554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999444" y="406642"/>
            <a:ext cx="1226594" cy="17388618"/>
            <a:chOff x="0" y="0"/>
            <a:chExt cx="660400" cy="93620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9362060"/>
            </a:xfrm>
            <a:custGeom>
              <a:avLst/>
              <a:gdLst/>
              <a:ahLst/>
              <a:cxnLst/>
              <a:rect r="r" b="b" t="t" l="l"/>
              <a:pathLst>
                <a:path h="936206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518405"/>
                  </a:cubicBezTo>
                  <a:lnTo>
                    <a:pt x="660400" y="9362060"/>
                  </a:lnTo>
                  <a:lnTo>
                    <a:pt x="0" y="9362060"/>
                  </a:lnTo>
                  <a:lnTo>
                    <a:pt x="0" y="524968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FF89A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60325"/>
              <a:ext cx="660400" cy="9301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930525" y="1318437"/>
            <a:ext cx="377093" cy="37709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F5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26906" y="5419030"/>
            <a:ext cx="541473" cy="54147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F5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3693553" y="1841353"/>
            <a:ext cx="825921" cy="825921"/>
          </a:xfrm>
          <a:custGeom>
            <a:avLst/>
            <a:gdLst/>
            <a:ahLst/>
            <a:cxnLst/>
            <a:rect r="r" b="b" t="t" l="l"/>
            <a:pathLst>
              <a:path h="825921" w="825921">
                <a:moveTo>
                  <a:pt x="0" y="0"/>
                </a:moveTo>
                <a:lnTo>
                  <a:pt x="825921" y="0"/>
                </a:lnTo>
                <a:lnTo>
                  <a:pt x="825921" y="825921"/>
                </a:lnTo>
                <a:lnTo>
                  <a:pt x="0" y="8259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959100" y="8037548"/>
            <a:ext cx="1140229" cy="1140229"/>
          </a:xfrm>
          <a:custGeom>
            <a:avLst/>
            <a:gdLst/>
            <a:ahLst/>
            <a:cxnLst/>
            <a:rect r="r" b="b" t="t" l="l"/>
            <a:pathLst>
              <a:path h="1140229" w="1140229">
                <a:moveTo>
                  <a:pt x="0" y="0"/>
                </a:moveTo>
                <a:lnTo>
                  <a:pt x="1140229" y="0"/>
                </a:lnTo>
                <a:lnTo>
                  <a:pt x="1140229" y="1140229"/>
                </a:lnTo>
                <a:lnTo>
                  <a:pt x="0" y="11402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>
            <a:off x="1318486" y="624663"/>
            <a:ext cx="0" cy="693775"/>
          </a:xfrm>
          <a:prstGeom prst="line">
            <a:avLst/>
          </a:prstGeom>
          <a:ln cap="flat" w="76200">
            <a:solidFill>
              <a:srgbClr val="EE6F5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6689186" y="2382217"/>
            <a:ext cx="570114" cy="57011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668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3633301" y="623285"/>
            <a:ext cx="4594447" cy="3262058"/>
          </a:xfrm>
          <a:custGeom>
            <a:avLst/>
            <a:gdLst/>
            <a:ahLst/>
            <a:cxnLst/>
            <a:rect r="r" b="b" t="t" l="l"/>
            <a:pathLst>
              <a:path h="3262058" w="4594447">
                <a:moveTo>
                  <a:pt x="0" y="0"/>
                </a:moveTo>
                <a:lnTo>
                  <a:pt x="4594447" y="0"/>
                </a:lnTo>
                <a:lnTo>
                  <a:pt x="4594447" y="3262057"/>
                </a:lnTo>
                <a:lnTo>
                  <a:pt x="0" y="32620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299436" y="3576588"/>
            <a:ext cx="12597213" cy="2981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69"/>
              </a:lnSpc>
            </a:pPr>
            <a:r>
              <a:rPr lang="en-US" sz="5621" b="true">
                <a:solidFill>
                  <a:srgbClr val="00334E"/>
                </a:solidFill>
                <a:latin typeface="Poppins Bold"/>
                <a:ea typeface="Poppins Bold"/>
                <a:cs typeface="Poppins Bold"/>
                <a:sym typeface="Poppins Bold"/>
              </a:rPr>
              <a:t>Factors Influencing Consumer Purchase Decision for </a:t>
            </a:r>
          </a:p>
          <a:p>
            <a:pPr algn="l" marL="0" indent="0" lvl="0">
              <a:lnSpc>
                <a:spcPts val="7869"/>
              </a:lnSpc>
              <a:spcBef>
                <a:spcPct val="0"/>
              </a:spcBef>
            </a:pPr>
            <a:r>
              <a:rPr lang="en-US" b="true" sz="5621" u="sng">
                <a:solidFill>
                  <a:srgbClr val="00334E"/>
                </a:solidFill>
                <a:latin typeface="Poppins Bold"/>
                <a:ea typeface="Poppins Bold"/>
                <a:cs typeface="Poppins Bold"/>
                <a:sym typeface="Poppins Bold"/>
              </a:rPr>
              <a:t>Maggi Masala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18486" y="8774878"/>
            <a:ext cx="5521408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22668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Prepared by Group 12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40509" y="645477"/>
            <a:ext cx="4141024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22668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1 March, 2025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215359" y="5491626"/>
            <a:ext cx="2627709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Akhilesh 924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Bagish 930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Raj 920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Swayam 911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9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009380" y="9139053"/>
            <a:ext cx="389352" cy="38935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668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139646" y="9333729"/>
            <a:ext cx="659207" cy="659207"/>
          </a:xfrm>
          <a:custGeom>
            <a:avLst/>
            <a:gdLst/>
            <a:ahLst/>
            <a:cxnLst/>
            <a:rect r="r" b="b" t="t" l="l"/>
            <a:pathLst>
              <a:path h="659207" w="659207">
                <a:moveTo>
                  <a:pt x="0" y="0"/>
                </a:moveTo>
                <a:lnTo>
                  <a:pt x="659208" y="0"/>
                </a:lnTo>
                <a:lnTo>
                  <a:pt x="659208" y="659207"/>
                </a:lnTo>
                <a:lnTo>
                  <a:pt x="0" y="6592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994219" y="1759980"/>
            <a:ext cx="14299562" cy="6767041"/>
            <a:chOff x="0" y="0"/>
            <a:chExt cx="3766140" cy="17822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66140" cy="1782266"/>
            </a:xfrm>
            <a:custGeom>
              <a:avLst/>
              <a:gdLst/>
              <a:ahLst/>
              <a:cxnLst/>
              <a:rect r="r" b="b" t="t" l="l"/>
              <a:pathLst>
                <a:path h="1782266" w="3766140">
                  <a:moveTo>
                    <a:pt x="0" y="0"/>
                  </a:moveTo>
                  <a:lnTo>
                    <a:pt x="3766140" y="0"/>
                  </a:lnTo>
                  <a:lnTo>
                    <a:pt x="3766140" y="1782266"/>
                  </a:lnTo>
                  <a:lnTo>
                    <a:pt x="0" y="1782266"/>
                  </a:lnTo>
                  <a:close/>
                </a:path>
              </a:pathLst>
            </a:custGeom>
            <a:solidFill>
              <a:srgbClr val="FFFAD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3766140" cy="1848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579269" y="2163789"/>
            <a:ext cx="9448521" cy="539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316975" indent="-658487" lvl="1">
              <a:lnSpc>
                <a:spcPts val="8539"/>
              </a:lnSpc>
              <a:buFont typeface="Arial"/>
              <a:buChar char="•"/>
            </a:pPr>
            <a:r>
              <a:rPr lang="en-US" b="true" sz="6099">
                <a:solidFill>
                  <a:srgbClr val="00334E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</a:t>
            </a:r>
          </a:p>
          <a:p>
            <a:pPr algn="just" marL="1316975" indent="-658487" lvl="1">
              <a:lnSpc>
                <a:spcPts val="8539"/>
              </a:lnSpc>
              <a:buFont typeface="Arial"/>
              <a:buChar char="•"/>
            </a:pPr>
            <a:r>
              <a:rPr lang="en-US" b="true" sz="6099">
                <a:solidFill>
                  <a:srgbClr val="00334E"/>
                </a:solidFill>
                <a:latin typeface="Poppins Bold"/>
                <a:ea typeface="Poppins Bold"/>
                <a:cs typeface="Poppins Bold"/>
                <a:sym typeface="Poppins Bold"/>
              </a:rPr>
              <a:t>Questionairre</a:t>
            </a:r>
          </a:p>
          <a:p>
            <a:pPr algn="just" marL="1316975" indent="-658487" lvl="1">
              <a:lnSpc>
                <a:spcPts val="8539"/>
              </a:lnSpc>
              <a:buFont typeface="Arial"/>
              <a:buChar char="•"/>
            </a:pPr>
            <a:r>
              <a:rPr lang="en-US" b="true" sz="6099">
                <a:solidFill>
                  <a:srgbClr val="00334E"/>
                </a:solidFill>
                <a:latin typeface="Poppins Bold"/>
                <a:ea typeface="Poppins Bold"/>
                <a:cs typeface="Poppins Bold"/>
                <a:sym typeface="Poppins Bold"/>
              </a:rPr>
              <a:t>Factor Analysis</a:t>
            </a:r>
          </a:p>
          <a:p>
            <a:pPr algn="just" marL="1316975" indent="-658487" lvl="1">
              <a:lnSpc>
                <a:spcPts val="8539"/>
              </a:lnSpc>
              <a:buFont typeface="Arial"/>
              <a:buChar char="•"/>
            </a:pPr>
            <a:r>
              <a:rPr lang="en-US" b="true" sz="6099">
                <a:solidFill>
                  <a:srgbClr val="00334E"/>
                </a:solidFill>
                <a:latin typeface="Poppins Bold"/>
                <a:ea typeface="Poppins Bold"/>
                <a:cs typeface="Poppins Bold"/>
                <a:sym typeface="Poppins Bold"/>
              </a:rPr>
              <a:t>Regression Analysis</a:t>
            </a:r>
          </a:p>
          <a:p>
            <a:pPr algn="just" marL="1316975" indent="-658487" lvl="1">
              <a:lnSpc>
                <a:spcPts val="8539"/>
              </a:lnSpc>
              <a:buFont typeface="Arial"/>
              <a:buChar char="•"/>
            </a:pPr>
            <a:r>
              <a:rPr lang="en-US" b="true" sz="6099">
                <a:solidFill>
                  <a:srgbClr val="00334E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189691" y="1028700"/>
            <a:ext cx="3279559" cy="3363939"/>
          </a:xfrm>
          <a:custGeom>
            <a:avLst/>
            <a:gdLst/>
            <a:ahLst/>
            <a:cxnLst/>
            <a:rect r="r" b="b" t="t" l="l"/>
            <a:pathLst>
              <a:path h="3363939" w="3279559">
                <a:moveTo>
                  <a:pt x="0" y="0"/>
                </a:moveTo>
                <a:lnTo>
                  <a:pt x="3279559" y="0"/>
                </a:lnTo>
                <a:lnTo>
                  <a:pt x="3279559" y="3363939"/>
                </a:lnTo>
                <a:lnTo>
                  <a:pt x="0" y="33639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09620" y="240185"/>
            <a:ext cx="5237771" cy="1076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b="true" sz="5999" u="sng">
                <a:solidFill>
                  <a:srgbClr val="00334E"/>
                </a:solidFill>
                <a:latin typeface="Poppins Bold"/>
                <a:ea typeface="Poppins Bold"/>
                <a:cs typeface="Poppins Bold"/>
                <a:sym typeface="Poppins Bold"/>
              </a:rPr>
              <a:t>Agenda</a:t>
            </a:r>
          </a:p>
        </p:txBody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9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3211" y="9433259"/>
            <a:ext cx="496806" cy="49680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668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1524" y="2232850"/>
            <a:ext cx="1332593" cy="1332593"/>
          </a:xfrm>
          <a:custGeom>
            <a:avLst/>
            <a:gdLst/>
            <a:ahLst/>
            <a:cxnLst/>
            <a:rect r="r" b="b" t="t" l="l"/>
            <a:pathLst>
              <a:path h="1332593" w="1332593">
                <a:moveTo>
                  <a:pt x="0" y="0"/>
                </a:moveTo>
                <a:lnTo>
                  <a:pt x="1332593" y="0"/>
                </a:lnTo>
                <a:lnTo>
                  <a:pt x="1332593" y="1332593"/>
                </a:lnTo>
                <a:lnTo>
                  <a:pt x="0" y="1332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1524" y="2505401"/>
            <a:ext cx="17983511" cy="7106824"/>
            <a:chOff x="0" y="0"/>
            <a:chExt cx="4736398" cy="18717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36398" cy="1871756"/>
            </a:xfrm>
            <a:custGeom>
              <a:avLst/>
              <a:gdLst/>
              <a:ahLst/>
              <a:cxnLst/>
              <a:rect r="r" b="b" t="t" l="l"/>
              <a:pathLst>
                <a:path h="1871756" w="4736398">
                  <a:moveTo>
                    <a:pt x="0" y="0"/>
                  </a:moveTo>
                  <a:lnTo>
                    <a:pt x="4736398" y="0"/>
                  </a:lnTo>
                  <a:lnTo>
                    <a:pt x="4736398" y="1871756"/>
                  </a:lnTo>
                  <a:lnTo>
                    <a:pt x="0" y="1871756"/>
                  </a:lnTo>
                  <a:close/>
                </a:path>
              </a:pathLst>
            </a:custGeom>
            <a:solidFill>
              <a:srgbClr val="FFFADD"/>
            </a:solidFill>
            <a:ln w="57150" cap="sq">
              <a:solidFill>
                <a:srgbClr val="FFF89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4736398" cy="1938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6107150" y="3279879"/>
            <a:ext cx="0" cy="5419418"/>
          </a:xfrm>
          <a:prstGeom prst="line">
            <a:avLst/>
          </a:prstGeom>
          <a:ln cap="rnd" w="38100">
            <a:solidFill>
              <a:srgbClr val="FFC9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2180850" y="3279879"/>
            <a:ext cx="0" cy="5419418"/>
          </a:xfrm>
          <a:prstGeom prst="line">
            <a:avLst/>
          </a:prstGeom>
          <a:ln cap="rnd" w="38100">
            <a:solidFill>
              <a:srgbClr val="FFC9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550618" y="3713836"/>
            <a:ext cx="5039366" cy="846181"/>
            <a:chOff x="0" y="0"/>
            <a:chExt cx="1327240" cy="2228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27240" cy="222862"/>
            </a:xfrm>
            <a:custGeom>
              <a:avLst/>
              <a:gdLst/>
              <a:ahLst/>
              <a:cxnLst/>
              <a:rect r="r" b="b" t="t" l="l"/>
              <a:pathLst>
                <a:path h="222862" w="1327240">
                  <a:moveTo>
                    <a:pt x="78351" y="0"/>
                  </a:moveTo>
                  <a:lnTo>
                    <a:pt x="1248890" y="0"/>
                  </a:lnTo>
                  <a:cubicBezTo>
                    <a:pt x="1269670" y="0"/>
                    <a:pt x="1289598" y="8255"/>
                    <a:pt x="1304292" y="22948"/>
                  </a:cubicBezTo>
                  <a:cubicBezTo>
                    <a:pt x="1318986" y="37642"/>
                    <a:pt x="1327240" y="57571"/>
                    <a:pt x="1327240" y="78351"/>
                  </a:cubicBezTo>
                  <a:lnTo>
                    <a:pt x="1327240" y="144512"/>
                  </a:lnTo>
                  <a:cubicBezTo>
                    <a:pt x="1327240" y="165292"/>
                    <a:pt x="1318986" y="185220"/>
                    <a:pt x="1304292" y="199914"/>
                  </a:cubicBezTo>
                  <a:cubicBezTo>
                    <a:pt x="1289598" y="214608"/>
                    <a:pt x="1269670" y="222862"/>
                    <a:pt x="1248890" y="222862"/>
                  </a:cubicBezTo>
                  <a:lnTo>
                    <a:pt x="78351" y="222862"/>
                  </a:lnTo>
                  <a:cubicBezTo>
                    <a:pt x="57571" y="222862"/>
                    <a:pt x="37642" y="214608"/>
                    <a:pt x="22948" y="199914"/>
                  </a:cubicBezTo>
                  <a:cubicBezTo>
                    <a:pt x="8255" y="185220"/>
                    <a:pt x="0" y="165292"/>
                    <a:pt x="0" y="144512"/>
                  </a:cubicBezTo>
                  <a:lnTo>
                    <a:pt x="0" y="78351"/>
                  </a:lnTo>
                  <a:cubicBezTo>
                    <a:pt x="0" y="57571"/>
                    <a:pt x="8255" y="37642"/>
                    <a:pt x="22948" y="22948"/>
                  </a:cubicBezTo>
                  <a:cubicBezTo>
                    <a:pt x="37642" y="8255"/>
                    <a:pt x="57571" y="0"/>
                    <a:pt x="78351" y="0"/>
                  </a:cubicBezTo>
                  <a:close/>
                </a:path>
              </a:pathLst>
            </a:custGeom>
            <a:solidFill>
              <a:srgbClr val="EE6F5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1327240" cy="308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 Preparation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24317" y="3713836"/>
            <a:ext cx="5039366" cy="866570"/>
            <a:chOff x="0" y="0"/>
            <a:chExt cx="1327240" cy="2282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27240" cy="228232"/>
            </a:xfrm>
            <a:custGeom>
              <a:avLst/>
              <a:gdLst/>
              <a:ahLst/>
              <a:cxnLst/>
              <a:rect r="r" b="b" t="t" l="l"/>
              <a:pathLst>
                <a:path h="228232" w="1327240">
                  <a:moveTo>
                    <a:pt x="78351" y="0"/>
                  </a:moveTo>
                  <a:lnTo>
                    <a:pt x="1248890" y="0"/>
                  </a:lnTo>
                  <a:cubicBezTo>
                    <a:pt x="1269670" y="0"/>
                    <a:pt x="1289598" y="8255"/>
                    <a:pt x="1304292" y="22948"/>
                  </a:cubicBezTo>
                  <a:cubicBezTo>
                    <a:pt x="1318986" y="37642"/>
                    <a:pt x="1327240" y="57571"/>
                    <a:pt x="1327240" y="78351"/>
                  </a:cubicBezTo>
                  <a:lnTo>
                    <a:pt x="1327240" y="149882"/>
                  </a:lnTo>
                  <a:cubicBezTo>
                    <a:pt x="1327240" y="170662"/>
                    <a:pt x="1318986" y="190590"/>
                    <a:pt x="1304292" y="205284"/>
                  </a:cubicBezTo>
                  <a:cubicBezTo>
                    <a:pt x="1289598" y="219978"/>
                    <a:pt x="1269670" y="228232"/>
                    <a:pt x="1248890" y="228232"/>
                  </a:cubicBezTo>
                  <a:lnTo>
                    <a:pt x="78351" y="228232"/>
                  </a:lnTo>
                  <a:cubicBezTo>
                    <a:pt x="35079" y="228232"/>
                    <a:pt x="0" y="193154"/>
                    <a:pt x="0" y="149882"/>
                  </a:cubicBezTo>
                  <a:lnTo>
                    <a:pt x="0" y="78351"/>
                  </a:lnTo>
                  <a:cubicBezTo>
                    <a:pt x="0" y="57571"/>
                    <a:pt x="8255" y="37642"/>
                    <a:pt x="22948" y="22948"/>
                  </a:cubicBezTo>
                  <a:cubicBezTo>
                    <a:pt x="37642" y="8255"/>
                    <a:pt x="57571" y="0"/>
                    <a:pt x="78351" y="0"/>
                  </a:cubicBezTo>
                  <a:close/>
                </a:path>
              </a:pathLst>
            </a:custGeom>
            <a:solidFill>
              <a:srgbClr val="EE6F5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1327240" cy="3139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</a:pPr>
              <a:r>
                <a:rPr lang="en-US" b="true" sz="31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Factor Analysis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698016" y="3713836"/>
            <a:ext cx="5039366" cy="846181"/>
            <a:chOff x="0" y="0"/>
            <a:chExt cx="1327240" cy="2228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27240" cy="222862"/>
            </a:xfrm>
            <a:custGeom>
              <a:avLst/>
              <a:gdLst/>
              <a:ahLst/>
              <a:cxnLst/>
              <a:rect r="r" b="b" t="t" l="l"/>
              <a:pathLst>
                <a:path h="222862" w="1327240">
                  <a:moveTo>
                    <a:pt x="78351" y="0"/>
                  </a:moveTo>
                  <a:lnTo>
                    <a:pt x="1248890" y="0"/>
                  </a:lnTo>
                  <a:cubicBezTo>
                    <a:pt x="1269670" y="0"/>
                    <a:pt x="1289598" y="8255"/>
                    <a:pt x="1304292" y="22948"/>
                  </a:cubicBezTo>
                  <a:cubicBezTo>
                    <a:pt x="1318986" y="37642"/>
                    <a:pt x="1327240" y="57571"/>
                    <a:pt x="1327240" y="78351"/>
                  </a:cubicBezTo>
                  <a:lnTo>
                    <a:pt x="1327240" y="144512"/>
                  </a:lnTo>
                  <a:cubicBezTo>
                    <a:pt x="1327240" y="165292"/>
                    <a:pt x="1318986" y="185220"/>
                    <a:pt x="1304292" y="199914"/>
                  </a:cubicBezTo>
                  <a:cubicBezTo>
                    <a:pt x="1289598" y="214608"/>
                    <a:pt x="1269670" y="222862"/>
                    <a:pt x="1248890" y="222862"/>
                  </a:cubicBezTo>
                  <a:lnTo>
                    <a:pt x="78351" y="222862"/>
                  </a:lnTo>
                  <a:cubicBezTo>
                    <a:pt x="57571" y="222862"/>
                    <a:pt x="37642" y="214608"/>
                    <a:pt x="22948" y="199914"/>
                  </a:cubicBezTo>
                  <a:cubicBezTo>
                    <a:pt x="8255" y="185220"/>
                    <a:pt x="0" y="165292"/>
                    <a:pt x="0" y="144512"/>
                  </a:cubicBezTo>
                  <a:lnTo>
                    <a:pt x="0" y="78351"/>
                  </a:lnTo>
                  <a:cubicBezTo>
                    <a:pt x="0" y="57571"/>
                    <a:pt x="8255" y="37642"/>
                    <a:pt x="22948" y="22948"/>
                  </a:cubicBezTo>
                  <a:cubicBezTo>
                    <a:pt x="37642" y="8255"/>
                    <a:pt x="57571" y="0"/>
                    <a:pt x="78351" y="0"/>
                  </a:cubicBezTo>
                  <a:close/>
                </a:path>
              </a:pathLst>
            </a:custGeom>
            <a:solidFill>
              <a:srgbClr val="EE6F57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1327240" cy="318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</a:pPr>
              <a:r>
                <a:rPr lang="en-US" b="true" sz="30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Regression Analysis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419315" y="1776401"/>
            <a:ext cx="1122746" cy="1122746"/>
          </a:xfrm>
          <a:custGeom>
            <a:avLst/>
            <a:gdLst/>
            <a:ahLst/>
            <a:cxnLst/>
            <a:rect r="r" b="b" t="t" l="l"/>
            <a:pathLst>
              <a:path h="1122746" w="1122746">
                <a:moveTo>
                  <a:pt x="0" y="0"/>
                </a:moveTo>
                <a:lnTo>
                  <a:pt x="1122746" y="0"/>
                </a:lnTo>
                <a:lnTo>
                  <a:pt x="1122746" y="1122745"/>
                </a:lnTo>
                <a:lnTo>
                  <a:pt x="0" y="1122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413446">
            <a:off x="9069033" y="9419523"/>
            <a:ext cx="697929" cy="697929"/>
          </a:xfrm>
          <a:custGeom>
            <a:avLst/>
            <a:gdLst/>
            <a:ahLst/>
            <a:cxnLst/>
            <a:rect r="r" b="b" t="t" l="l"/>
            <a:pathLst>
              <a:path h="697929" w="697929">
                <a:moveTo>
                  <a:pt x="0" y="0"/>
                </a:moveTo>
                <a:lnTo>
                  <a:pt x="697929" y="0"/>
                </a:lnTo>
                <a:lnTo>
                  <a:pt x="697929" y="697928"/>
                </a:lnTo>
                <a:lnTo>
                  <a:pt x="0" y="6979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7079832" y="548500"/>
            <a:ext cx="625047" cy="625047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F57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502430" y="1426340"/>
            <a:ext cx="431433" cy="431433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F57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205791" y="357642"/>
            <a:ext cx="296638" cy="296638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89A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245081" y="10055988"/>
            <a:ext cx="344903" cy="344903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F57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6271610" y="9455963"/>
            <a:ext cx="312524" cy="312524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F57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239683" y="9846398"/>
            <a:ext cx="209589" cy="209589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89A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7259300" y="9899726"/>
            <a:ext cx="548488" cy="548488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89A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14946752" y="9990540"/>
            <a:ext cx="697929" cy="697929"/>
          </a:xfrm>
          <a:custGeom>
            <a:avLst/>
            <a:gdLst/>
            <a:ahLst/>
            <a:cxnLst/>
            <a:rect r="r" b="b" t="t" l="l"/>
            <a:pathLst>
              <a:path h="697929" w="697929">
                <a:moveTo>
                  <a:pt x="0" y="0"/>
                </a:moveTo>
                <a:lnTo>
                  <a:pt x="697928" y="0"/>
                </a:lnTo>
                <a:lnTo>
                  <a:pt x="697928" y="697929"/>
                </a:lnTo>
                <a:lnTo>
                  <a:pt x="0" y="6979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3859416" y="86211"/>
            <a:ext cx="2174672" cy="2174672"/>
          </a:xfrm>
          <a:custGeom>
            <a:avLst/>
            <a:gdLst/>
            <a:ahLst/>
            <a:cxnLst/>
            <a:rect r="r" b="b" t="t" l="l"/>
            <a:pathLst>
              <a:path h="2174672" w="2174672">
                <a:moveTo>
                  <a:pt x="0" y="0"/>
                </a:moveTo>
                <a:lnTo>
                  <a:pt x="2174672" y="0"/>
                </a:lnTo>
                <a:lnTo>
                  <a:pt x="2174672" y="2174672"/>
                </a:lnTo>
                <a:lnTo>
                  <a:pt x="0" y="21746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4189050" y="8047787"/>
            <a:ext cx="1910333" cy="1542160"/>
          </a:xfrm>
          <a:custGeom>
            <a:avLst/>
            <a:gdLst/>
            <a:ahLst/>
            <a:cxnLst/>
            <a:rect r="r" b="b" t="t" l="l"/>
            <a:pathLst>
              <a:path h="1542160" w="1910333">
                <a:moveTo>
                  <a:pt x="0" y="0"/>
                </a:moveTo>
                <a:lnTo>
                  <a:pt x="1910333" y="0"/>
                </a:lnTo>
                <a:lnTo>
                  <a:pt x="1910333" y="1542160"/>
                </a:lnTo>
                <a:lnTo>
                  <a:pt x="0" y="15421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3914400" y="7998899"/>
            <a:ext cx="1977420" cy="2157899"/>
          </a:xfrm>
          <a:custGeom>
            <a:avLst/>
            <a:gdLst/>
            <a:ahLst/>
            <a:cxnLst/>
            <a:rect r="r" b="b" t="t" l="l"/>
            <a:pathLst>
              <a:path h="2157899" w="1977420">
                <a:moveTo>
                  <a:pt x="0" y="0"/>
                </a:moveTo>
                <a:lnTo>
                  <a:pt x="1977419" y="0"/>
                </a:lnTo>
                <a:lnTo>
                  <a:pt x="1977419" y="2157899"/>
                </a:lnTo>
                <a:lnTo>
                  <a:pt x="0" y="215789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-846723" y="902525"/>
            <a:ext cx="11295995" cy="117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00"/>
              </a:lnSpc>
              <a:spcBef>
                <a:spcPct val="0"/>
              </a:spcBef>
            </a:pPr>
            <a:r>
              <a:rPr lang="en-US" b="true" sz="6500">
                <a:solidFill>
                  <a:srgbClr val="00334E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Objectives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71524" y="4950028"/>
            <a:ext cx="5548765" cy="2631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9220" indent="-249610" lvl="1">
              <a:lnSpc>
                <a:spcPts val="3468"/>
              </a:lnSpc>
              <a:buFont typeface="Arial"/>
              <a:buChar char="•"/>
            </a:pPr>
            <a:r>
              <a:rPr lang="en-US" sz="2312">
                <a:solidFill>
                  <a:srgbClr val="22668D"/>
                </a:solidFill>
                <a:latin typeface="Poppins"/>
                <a:ea typeface="Poppins"/>
                <a:cs typeface="Poppins"/>
                <a:sym typeface="Poppins"/>
              </a:rPr>
              <a:t>To design and administer a structured survey using a 1–5 Likert scale across 25–30 variables to capture consumer attitudes and perceptions toward Maggi Masala.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099383" y="5038725"/>
            <a:ext cx="6089234" cy="2425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7846" indent="-273923" lvl="1">
              <a:lnSpc>
                <a:spcPts val="3806"/>
              </a:lnSpc>
              <a:buFont typeface="Arial"/>
              <a:buChar char="•"/>
            </a:pPr>
            <a:r>
              <a:rPr lang="en-US" sz="2537">
                <a:solidFill>
                  <a:srgbClr val="22668D"/>
                </a:solidFill>
                <a:latin typeface="Poppins"/>
                <a:ea typeface="Poppins"/>
                <a:cs typeface="Poppins"/>
                <a:sym typeface="Poppins"/>
              </a:rPr>
              <a:t>To conduct factor analysis on the survey data, reduce the variables into a smaller set of latent constructs, and derive factor scores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698016" y="5049964"/>
            <a:ext cx="5844045" cy="2322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5787" indent="-262893" lvl="1">
              <a:lnSpc>
                <a:spcPts val="3652"/>
              </a:lnSpc>
              <a:buFont typeface="Arial"/>
              <a:buChar char="•"/>
            </a:pPr>
            <a:r>
              <a:rPr lang="en-US" sz="2435">
                <a:solidFill>
                  <a:srgbClr val="22668D"/>
                </a:solidFill>
                <a:latin typeface="Poppins"/>
                <a:ea typeface="Poppins"/>
                <a:cs typeface="Poppins"/>
                <a:sym typeface="Poppins"/>
              </a:rPr>
              <a:t>Factor scores  used to examine the relationship between these constructs and the likelihood of repurchasing Maggi Masala through regression analysis.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24674" y="8348316"/>
            <a:ext cx="2571329" cy="616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4"/>
              </a:lnSpc>
            </a:pPr>
            <a:r>
              <a:rPr lang="en-US" sz="3488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14" tooltip="https://forms.gle/rhfBDwDsTg8E2jHz5"/>
              </a:rPr>
              <a:t>Forms Link</a:t>
            </a:r>
          </a:p>
        </p:txBody>
      </p: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9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234102">
            <a:off x="-1801608" y="-7226745"/>
            <a:ext cx="10208946" cy="10514832"/>
          </a:xfrm>
          <a:custGeom>
            <a:avLst/>
            <a:gdLst/>
            <a:ahLst/>
            <a:cxnLst/>
            <a:rect r="r" b="b" t="t" l="l"/>
            <a:pathLst>
              <a:path h="10514832" w="10208946">
                <a:moveTo>
                  <a:pt x="0" y="0"/>
                </a:moveTo>
                <a:lnTo>
                  <a:pt x="10208947" y="0"/>
                </a:lnTo>
                <a:lnTo>
                  <a:pt x="10208947" y="10514832"/>
                </a:lnTo>
                <a:lnTo>
                  <a:pt x="0" y="105148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0699" y="838200"/>
            <a:ext cx="16539117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00334E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593003" y="1236910"/>
            <a:ext cx="1332593" cy="1332593"/>
          </a:xfrm>
          <a:custGeom>
            <a:avLst/>
            <a:gdLst/>
            <a:ahLst/>
            <a:cxnLst/>
            <a:rect r="r" b="b" t="t" l="l"/>
            <a:pathLst>
              <a:path h="1332593" w="1332593">
                <a:moveTo>
                  <a:pt x="0" y="0"/>
                </a:moveTo>
                <a:lnTo>
                  <a:pt x="1332594" y="0"/>
                </a:lnTo>
                <a:lnTo>
                  <a:pt x="1332594" y="1332594"/>
                </a:lnTo>
                <a:lnTo>
                  <a:pt x="0" y="13325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202924" y="286525"/>
            <a:ext cx="571129" cy="57112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F5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04339" y="1204316"/>
            <a:ext cx="354610" cy="35461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F5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7483" y="8755084"/>
            <a:ext cx="503216" cy="50321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668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99483" y="9756353"/>
            <a:ext cx="256394" cy="25639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F5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413446">
            <a:off x="1087097" y="9828648"/>
            <a:ext cx="697929" cy="697929"/>
          </a:xfrm>
          <a:custGeom>
            <a:avLst/>
            <a:gdLst/>
            <a:ahLst/>
            <a:cxnLst/>
            <a:rect r="r" b="b" t="t" l="l"/>
            <a:pathLst>
              <a:path h="697929" w="697929">
                <a:moveTo>
                  <a:pt x="0" y="0"/>
                </a:moveTo>
                <a:lnTo>
                  <a:pt x="697929" y="0"/>
                </a:lnTo>
                <a:lnTo>
                  <a:pt x="697929" y="697928"/>
                </a:lnTo>
                <a:lnTo>
                  <a:pt x="0" y="6979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92957" y="706986"/>
            <a:ext cx="15200046" cy="8873027"/>
          </a:xfrm>
          <a:custGeom>
            <a:avLst/>
            <a:gdLst/>
            <a:ahLst/>
            <a:cxnLst/>
            <a:rect r="r" b="b" t="t" l="l"/>
            <a:pathLst>
              <a:path h="8873027" w="15200046">
                <a:moveTo>
                  <a:pt x="0" y="0"/>
                </a:moveTo>
                <a:lnTo>
                  <a:pt x="15200046" y="0"/>
                </a:lnTo>
                <a:lnTo>
                  <a:pt x="15200046" y="8873028"/>
                </a:lnTo>
                <a:lnTo>
                  <a:pt x="0" y="88730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7186" y="3152419"/>
            <a:ext cx="16335379" cy="7659633"/>
            <a:chOff x="0" y="0"/>
            <a:chExt cx="4518729" cy="21188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8729" cy="2118825"/>
            </a:xfrm>
            <a:custGeom>
              <a:avLst/>
              <a:gdLst/>
              <a:ahLst/>
              <a:cxnLst/>
              <a:rect r="r" b="b" t="t" l="l"/>
              <a:pathLst>
                <a:path h="2118825" w="4518729">
                  <a:moveTo>
                    <a:pt x="24171" y="0"/>
                  </a:moveTo>
                  <a:lnTo>
                    <a:pt x="4494559" y="0"/>
                  </a:lnTo>
                  <a:cubicBezTo>
                    <a:pt x="4500969" y="0"/>
                    <a:pt x="4507117" y="2547"/>
                    <a:pt x="4511650" y="7079"/>
                  </a:cubicBezTo>
                  <a:cubicBezTo>
                    <a:pt x="4516183" y="11612"/>
                    <a:pt x="4518729" y="17760"/>
                    <a:pt x="4518729" y="24171"/>
                  </a:cubicBezTo>
                  <a:lnTo>
                    <a:pt x="4518729" y="2094654"/>
                  </a:lnTo>
                  <a:cubicBezTo>
                    <a:pt x="4518729" y="2101065"/>
                    <a:pt x="4516183" y="2107213"/>
                    <a:pt x="4511650" y="2111746"/>
                  </a:cubicBezTo>
                  <a:cubicBezTo>
                    <a:pt x="4507117" y="2116278"/>
                    <a:pt x="4500969" y="2118825"/>
                    <a:pt x="4494559" y="2118825"/>
                  </a:cubicBezTo>
                  <a:lnTo>
                    <a:pt x="24171" y="2118825"/>
                  </a:lnTo>
                  <a:cubicBezTo>
                    <a:pt x="17760" y="2118825"/>
                    <a:pt x="11612" y="2116278"/>
                    <a:pt x="7079" y="2111746"/>
                  </a:cubicBezTo>
                  <a:cubicBezTo>
                    <a:pt x="2547" y="2107213"/>
                    <a:pt x="0" y="2101065"/>
                    <a:pt x="0" y="2094654"/>
                  </a:cubicBezTo>
                  <a:lnTo>
                    <a:pt x="0" y="24171"/>
                  </a:lnTo>
                  <a:cubicBezTo>
                    <a:pt x="0" y="17760"/>
                    <a:pt x="2547" y="11612"/>
                    <a:pt x="7079" y="7079"/>
                  </a:cubicBezTo>
                  <a:cubicBezTo>
                    <a:pt x="11612" y="2547"/>
                    <a:pt x="17760" y="0"/>
                    <a:pt x="24171" y="0"/>
                  </a:cubicBezTo>
                  <a:close/>
                </a:path>
              </a:pathLst>
            </a:custGeom>
            <a:solidFill>
              <a:srgbClr val="FFF89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518729" cy="218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4139327" y="-4563144"/>
            <a:ext cx="2538175" cy="12169052"/>
            <a:chOff x="0" y="0"/>
            <a:chExt cx="742699" cy="35608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2699" cy="3560805"/>
            </a:xfrm>
            <a:custGeom>
              <a:avLst/>
              <a:gdLst/>
              <a:ahLst/>
              <a:cxnLst/>
              <a:rect r="r" b="b" t="t" l="l"/>
              <a:pathLst>
                <a:path h="3560805" w="742699">
                  <a:moveTo>
                    <a:pt x="247700" y="19070"/>
                  </a:moveTo>
                  <a:cubicBezTo>
                    <a:pt x="285654" y="7556"/>
                    <a:pt x="329064" y="0"/>
                    <a:pt x="371550" y="0"/>
                  </a:cubicBezTo>
                  <a:cubicBezTo>
                    <a:pt x="414036" y="0"/>
                    <a:pt x="454919" y="6476"/>
                    <a:pt x="492594" y="17990"/>
                  </a:cubicBezTo>
                  <a:cubicBezTo>
                    <a:pt x="493397" y="18350"/>
                    <a:pt x="494198" y="18350"/>
                    <a:pt x="494999" y="18710"/>
                  </a:cubicBezTo>
                  <a:cubicBezTo>
                    <a:pt x="636485" y="64765"/>
                    <a:pt x="740695" y="186379"/>
                    <a:pt x="742699" y="389543"/>
                  </a:cubicBezTo>
                  <a:lnTo>
                    <a:pt x="742699" y="3560805"/>
                  </a:lnTo>
                  <a:lnTo>
                    <a:pt x="0" y="3560805"/>
                  </a:lnTo>
                  <a:lnTo>
                    <a:pt x="0" y="391896"/>
                  </a:lnTo>
                  <a:cubicBezTo>
                    <a:pt x="2004" y="185660"/>
                    <a:pt x="104611" y="64045"/>
                    <a:pt x="247700" y="19070"/>
                  </a:cubicBezTo>
                  <a:close/>
                </a:path>
              </a:pathLst>
            </a:custGeom>
            <a:solidFill>
              <a:srgbClr val="FFC900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60325"/>
              <a:ext cx="742699" cy="3500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603464" y="3152419"/>
            <a:ext cx="1140229" cy="1140229"/>
          </a:xfrm>
          <a:custGeom>
            <a:avLst/>
            <a:gdLst/>
            <a:ahLst/>
            <a:cxnLst/>
            <a:rect r="r" b="b" t="t" l="l"/>
            <a:pathLst>
              <a:path h="1140229" w="1140229">
                <a:moveTo>
                  <a:pt x="0" y="0"/>
                </a:moveTo>
                <a:lnTo>
                  <a:pt x="1140229" y="0"/>
                </a:lnTo>
                <a:lnTo>
                  <a:pt x="1140229" y="1140229"/>
                </a:lnTo>
                <a:lnTo>
                  <a:pt x="0" y="11402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5397882" y="2826584"/>
            <a:ext cx="359574" cy="35957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F5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174240" y="2101945"/>
            <a:ext cx="539361" cy="53936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F5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2499629" y="2509211"/>
            <a:ext cx="813616" cy="813616"/>
          </a:xfrm>
          <a:custGeom>
            <a:avLst/>
            <a:gdLst/>
            <a:ahLst/>
            <a:cxnLst/>
            <a:rect r="r" b="b" t="t" l="l"/>
            <a:pathLst>
              <a:path h="813616" w="813616">
                <a:moveTo>
                  <a:pt x="0" y="0"/>
                </a:moveTo>
                <a:lnTo>
                  <a:pt x="813616" y="0"/>
                </a:lnTo>
                <a:lnTo>
                  <a:pt x="813616" y="813617"/>
                </a:lnTo>
                <a:lnTo>
                  <a:pt x="0" y="8136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3909533" y="8898726"/>
            <a:ext cx="359574" cy="35957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F5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555856" y="3399001"/>
            <a:ext cx="360578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334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Bartlett Test</a:t>
            </a:r>
          </a:p>
        </p:txBody>
      </p:sp>
      <p:sp>
        <p:nvSpPr>
          <p:cNvPr name="AutoShape 20" id="20"/>
          <p:cNvSpPr/>
          <p:nvPr/>
        </p:nvSpPr>
        <p:spPr>
          <a:xfrm>
            <a:off x="8555856" y="3722534"/>
            <a:ext cx="0" cy="6092534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-1501235" y="252280"/>
            <a:ext cx="9961248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00334E"/>
                </a:solidFill>
                <a:latin typeface="Poppins Bold"/>
                <a:ea typeface="Poppins Bold"/>
                <a:cs typeface="Poppins Bold"/>
                <a:sym typeface="Poppins Bold"/>
              </a:rPr>
              <a:t>Factor Analysis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67186" y="1484530"/>
            <a:ext cx="698849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334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Assumption Checking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334E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292887" y="3399001"/>
            <a:ext cx="311552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334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KMO Measure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27490" y="7646385"/>
            <a:ext cx="4883111" cy="667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33"/>
              </a:lnSpc>
              <a:spcBef>
                <a:spcPct val="0"/>
              </a:spcBef>
            </a:pPr>
            <a:r>
              <a:rPr lang="en-US" b="true" sz="3738">
                <a:solidFill>
                  <a:srgbClr val="00334E"/>
                </a:solidFill>
                <a:latin typeface="Poppins Bold"/>
                <a:ea typeface="Poppins Bold"/>
                <a:cs typeface="Poppins Bold"/>
                <a:sym typeface="Poppins Bold"/>
              </a:rPr>
              <a:t>KMO Value: </a:t>
            </a:r>
            <a:r>
              <a:rPr lang="en-US" sz="3738">
                <a:solidFill>
                  <a:srgbClr val="00334E"/>
                </a:solidFill>
                <a:latin typeface="Poppins"/>
                <a:ea typeface="Poppins"/>
                <a:cs typeface="Poppins"/>
                <a:sym typeface="Poppins"/>
              </a:rPr>
              <a:t>0.933351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200109" y="7965619"/>
            <a:ext cx="6599039" cy="933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3"/>
              </a:lnSpc>
              <a:spcBef>
                <a:spcPct val="0"/>
              </a:spcBef>
            </a:pPr>
            <a:r>
              <a:rPr lang="en-US" b="true" sz="2638">
                <a:solidFill>
                  <a:srgbClr val="00334E"/>
                </a:solidFill>
                <a:latin typeface="Poppins Bold"/>
                <a:ea typeface="Poppins Bold"/>
                <a:cs typeface="Poppins Bold"/>
                <a:sym typeface="Poppins Bold"/>
              </a:rPr>
              <a:t>Chi Square Value:</a:t>
            </a:r>
            <a:r>
              <a:rPr lang="en-US" sz="2638">
                <a:solidFill>
                  <a:srgbClr val="00334E"/>
                </a:solidFill>
                <a:latin typeface="Poppins"/>
                <a:ea typeface="Poppins"/>
                <a:cs typeface="Poppins"/>
                <a:sym typeface="Poppins"/>
              </a:rPr>
              <a:t> 3239.5418913488033 </a:t>
            </a:r>
          </a:p>
          <a:p>
            <a:pPr algn="l">
              <a:lnSpc>
                <a:spcPts val="3693"/>
              </a:lnSpc>
              <a:spcBef>
                <a:spcPct val="0"/>
              </a:spcBef>
            </a:pPr>
            <a:r>
              <a:rPr lang="en-US" b="true" sz="2638">
                <a:solidFill>
                  <a:srgbClr val="00334E"/>
                </a:solidFill>
                <a:latin typeface="Poppins Bold"/>
                <a:ea typeface="Poppins Bold"/>
                <a:cs typeface="Poppins Bold"/>
                <a:sym typeface="Poppins Bold"/>
              </a:rPr>
              <a:t>P Values:</a:t>
            </a:r>
            <a:r>
              <a:rPr lang="en-US" sz="2638">
                <a:solidFill>
                  <a:srgbClr val="00334E"/>
                </a:solidFill>
                <a:latin typeface="Poppins"/>
                <a:ea typeface="Poppins"/>
                <a:cs typeface="Poppins"/>
                <a:sym typeface="Poppins"/>
              </a:rPr>
              <a:t> 0.0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00109" y="4615339"/>
            <a:ext cx="7332067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334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Ho:</a:t>
            </a:r>
            <a:r>
              <a:rPr lang="en-US" sz="3399">
                <a:solidFill>
                  <a:srgbClr val="00334E"/>
                </a:solidFill>
                <a:latin typeface="Canva Sans"/>
                <a:ea typeface="Canva Sans"/>
                <a:cs typeface="Canva Sans"/>
                <a:sym typeface="Canva Sans"/>
              </a:rPr>
              <a:t> Correlation matrix is an identity matrix </a:t>
            </a:r>
          </a:p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334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</a:t>
            </a:r>
            <a:r>
              <a:rPr lang="en-US" sz="3399" b="true">
                <a:solidFill>
                  <a:srgbClr val="00334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/S</a:t>
            </a:r>
          </a:p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334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H1:</a:t>
            </a:r>
            <a:r>
              <a:rPr lang="en-US" sz="3399">
                <a:solidFill>
                  <a:srgbClr val="00334E"/>
                </a:solidFill>
                <a:latin typeface="Canva Sans"/>
                <a:ea typeface="Canva Sans"/>
                <a:cs typeface="Canva Sans"/>
                <a:sym typeface="Canva Sans"/>
              </a:rPr>
              <a:t> Correlation matrix is not an identity matrix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527490" y="5008091"/>
            <a:ext cx="6742049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334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KMO value &gt;=0.5 – Acceptable</a:t>
            </a:r>
          </a:p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334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KMO value &lt;0.5 – Unacceptable  </a:t>
            </a:r>
          </a:p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334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7062974" y="-2074064"/>
            <a:ext cx="14305399" cy="14734025"/>
          </a:xfrm>
          <a:custGeom>
            <a:avLst/>
            <a:gdLst/>
            <a:ahLst/>
            <a:cxnLst/>
            <a:rect r="r" b="b" t="t" l="l"/>
            <a:pathLst>
              <a:path h="14734025" w="14305399">
                <a:moveTo>
                  <a:pt x="0" y="0"/>
                </a:moveTo>
                <a:lnTo>
                  <a:pt x="14305400" y="0"/>
                </a:lnTo>
                <a:lnTo>
                  <a:pt x="14305400" y="14734025"/>
                </a:lnTo>
                <a:lnTo>
                  <a:pt x="0" y="147340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376228" y="685388"/>
            <a:ext cx="9961248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00334E"/>
                </a:solidFill>
                <a:latin typeface="Poppins Bold"/>
                <a:ea typeface="Poppins Bold"/>
                <a:cs typeface="Poppins Bold"/>
                <a:sym typeface="Poppins Bold"/>
              </a:rPr>
              <a:t>Factor Analysis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94046" y="406812"/>
            <a:ext cx="1262826" cy="1262826"/>
          </a:xfrm>
          <a:custGeom>
            <a:avLst/>
            <a:gdLst/>
            <a:ahLst/>
            <a:cxnLst/>
            <a:rect r="r" b="b" t="t" l="l"/>
            <a:pathLst>
              <a:path h="1262826" w="1262826">
                <a:moveTo>
                  <a:pt x="0" y="0"/>
                </a:moveTo>
                <a:lnTo>
                  <a:pt x="1262826" y="0"/>
                </a:lnTo>
                <a:lnTo>
                  <a:pt x="1262826" y="1262826"/>
                </a:lnTo>
                <a:lnTo>
                  <a:pt x="0" y="12628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519270" y="6550635"/>
            <a:ext cx="912638" cy="912638"/>
          </a:xfrm>
          <a:custGeom>
            <a:avLst/>
            <a:gdLst/>
            <a:ahLst/>
            <a:cxnLst/>
            <a:rect r="r" b="b" t="t" l="l"/>
            <a:pathLst>
              <a:path h="912638" w="912638">
                <a:moveTo>
                  <a:pt x="0" y="0"/>
                </a:moveTo>
                <a:lnTo>
                  <a:pt x="912637" y="0"/>
                </a:lnTo>
                <a:lnTo>
                  <a:pt x="912637" y="912638"/>
                </a:lnTo>
                <a:lnTo>
                  <a:pt x="0" y="9126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33770" y="-164317"/>
            <a:ext cx="571129" cy="57112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F5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94046" y="8292989"/>
            <a:ext cx="503216" cy="50321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668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726007" y="332325"/>
            <a:ext cx="705900" cy="70590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668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750574" y="738013"/>
            <a:ext cx="352950" cy="35295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622638" y="3131950"/>
            <a:ext cx="352950" cy="35295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0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09170" y="9316073"/>
            <a:ext cx="256394" cy="25639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334E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1665" y="1926813"/>
            <a:ext cx="16680973" cy="6656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75" indent="-453388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00334E"/>
                </a:solidFill>
                <a:latin typeface="Canva Sans"/>
                <a:ea typeface="Canva Sans"/>
                <a:cs typeface="Canva Sans"/>
                <a:sym typeface="Canva Sans"/>
              </a:rPr>
              <a:t>We have applied factor analysis on </a:t>
            </a:r>
            <a:r>
              <a:rPr lang="en-US" b="true" sz="4199">
                <a:solidFill>
                  <a:srgbClr val="00334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29</a:t>
            </a:r>
            <a:r>
              <a:rPr lang="en-US" sz="4199">
                <a:solidFill>
                  <a:srgbClr val="00334E"/>
                </a:solidFill>
                <a:latin typeface="Canva Sans"/>
                <a:ea typeface="Canva Sans"/>
                <a:cs typeface="Canva Sans"/>
                <a:sym typeface="Canva Sans"/>
              </a:rPr>
              <a:t> variables collected from the questionnaire</a:t>
            </a:r>
          </a:p>
          <a:p>
            <a:pPr algn="l" marL="906775" indent="-453388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00334E"/>
                </a:solidFill>
                <a:latin typeface="Canva Sans"/>
                <a:ea typeface="Canva Sans"/>
                <a:cs typeface="Canva Sans"/>
                <a:sym typeface="Canva Sans"/>
              </a:rPr>
              <a:t>Total Cumulative variance explained is </a:t>
            </a:r>
            <a:r>
              <a:rPr lang="en-US" b="true" sz="4199">
                <a:solidFill>
                  <a:srgbClr val="00334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63 %</a:t>
            </a:r>
          </a:p>
          <a:p>
            <a:pPr algn="l" marL="906775" indent="-453388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00334E"/>
                </a:solidFill>
                <a:latin typeface="Canva Sans"/>
                <a:ea typeface="Canva Sans"/>
                <a:cs typeface="Canva Sans"/>
                <a:sym typeface="Canva Sans"/>
              </a:rPr>
              <a:t>Factor Analysis uses </a:t>
            </a:r>
            <a:r>
              <a:rPr lang="en-US" b="true" sz="4199">
                <a:solidFill>
                  <a:srgbClr val="00334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PCA</a:t>
            </a:r>
            <a:r>
              <a:rPr lang="en-US" sz="4199">
                <a:solidFill>
                  <a:srgbClr val="00334E"/>
                </a:solidFill>
                <a:latin typeface="Canva Sans"/>
                <a:ea typeface="Canva Sans"/>
                <a:cs typeface="Canva Sans"/>
                <a:sym typeface="Canva Sans"/>
              </a:rPr>
              <a:t> for reducing dimensions into</a:t>
            </a:r>
            <a:r>
              <a:rPr lang="en-US" b="true" sz="4199">
                <a:solidFill>
                  <a:srgbClr val="00334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6</a:t>
            </a:r>
            <a:r>
              <a:rPr lang="en-US" sz="4199">
                <a:solidFill>
                  <a:srgbClr val="00334E"/>
                </a:solidFill>
                <a:latin typeface="Canva Sans"/>
                <a:ea typeface="Canva Sans"/>
                <a:cs typeface="Canva Sans"/>
                <a:sym typeface="Canva Sans"/>
              </a:rPr>
              <a:t> Factors and </a:t>
            </a:r>
            <a:r>
              <a:rPr lang="en-US" b="true" sz="4199">
                <a:solidFill>
                  <a:srgbClr val="00334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Varimax</a:t>
            </a:r>
            <a:r>
              <a:rPr lang="en-US" sz="4199">
                <a:solidFill>
                  <a:srgbClr val="00334E"/>
                </a:solidFill>
                <a:latin typeface="Canva Sans"/>
                <a:ea typeface="Canva Sans"/>
                <a:cs typeface="Canva Sans"/>
                <a:sym typeface="Canva Sans"/>
              </a:rPr>
              <a:t> rotation is used for making stable factors</a:t>
            </a:r>
          </a:p>
          <a:p>
            <a:pPr algn="l" marL="906775" indent="-453388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00334E"/>
                </a:solidFill>
                <a:latin typeface="Canva Sans"/>
                <a:ea typeface="Canva Sans"/>
                <a:cs typeface="Canva Sans"/>
                <a:sym typeface="Canva Sans"/>
              </a:rPr>
              <a:t>The Factor Analysis has reduced these </a:t>
            </a:r>
            <a:r>
              <a:rPr lang="en-US" b="true" sz="4199">
                <a:solidFill>
                  <a:srgbClr val="00334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29</a:t>
            </a:r>
            <a:r>
              <a:rPr lang="en-US" sz="4199">
                <a:solidFill>
                  <a:srgbClr val="00334E"/>
                </a:solidFill>
                <a:latin typeface="Canva Sans"/>
                <a:ea typeface="Canva Sans"/>
                <a:cs typeface="Canva Sans"/>
                <a:sym typeface="Canva Sans"/>
              </a:rPr>
              <a:t> variables into </a:t>
            </a:r>
            <a:r>
              <a:rPr lang="en-US" b="true" sz="4199">
                <a:solidFill>
                  <a:srgbClr val="00334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</a:t>
            </a:r>
            <a:r>
              <a:rPr lang="en-US" sz="4199">
                <a:solidFill>
                  <a:srgbClr val="00334E"/>
                </a:solidFill>
                <a:latin typeface="Canva Sans"/>
                <a:ea typeface="Canva Sans"/>
                <a:cs typeface="Canva Sans"/>
                <a:sym typeface="Canva Sans"/>
              </a:rPr>
              <a:t> major factor’s namely : </a:t>
            </a:r>
            <a:r>
              <a:rPr lang="en-US" b="true" sz="4199">
                <a:solidFill>
                  <a:srgbClr val="00334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Brand, Taste, Emotional Connect, Affordability, Availability &amp; Advertisement</a:t>
            </a:r>
          </a:p>
        </p:txBody>
      </p:sp>
    </p:spTree>
  </p:cSld>
  <p:clrMapOvr>
    <a:masterClrMapping/>
  </p:clrMapOvr>
  <p:transition spd="fast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679917"/>
            <a:ext cx="926777" cy="926777"/>
          </a:xfrm>
          <a:custGeom>
            <a:avLst/>
            <a:gdLst/>
            <a:ahLst/>
            <a:cxnLst/>
            <a:rect r="r" b="b" t="t" l="l"/>
            <a:pathLst>
              <a:path h="926777" w="926777">
                <a:moveTo>
                  <a:pt x="0" y="0"/>
                </a:moveTo>
                <a:lnTo>
                  <a:pt x="926777" y="0"/>
                </a:lnTo>
                <a:lnTo>
                  <a:pt x="926777" y="926777"/>
                </a:lnTo>
                <a:lnTo>
                  <a:pt x="0" y="9267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444143" y="445871"/>
            <a:ext cx="329485" cy="32948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89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377410" y="1380053"/>
            <a:ext cx="231476" cy="23147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668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211380" y="6572211"/>
            <a:ext cx="1240080" cy="1240080"/>
          </a:xfrm>
          <a:custGeom>
            <a:avLst/>
            <a:gdLst/>
            <a:ahLst/>
            <a:cxnLst/>
            <a:rect r="r" b="b" t="t" l="l"/>
            <a:pathLst>
              <a:path h="1240080" w="1240080">
                <a:moveTo>
                  <a:pt x="0" y="0"/>
                </a:moveTo>
                <a:lnTo>
                  <a:pt x="1240080" y="0"/>
                </a:lnTo>
                <a:lnTo>
                  <a:pt x="1240080" y="1240080"/>
                </a:lnTo>
                <a:lnTo>
                  <a:pt x="0" y="12400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550654" y="8758364"/>
            <a:ext cx="329485" cy="32948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F5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55880" y="9365442"/>
            <a:ext cx="449017" cy="44901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41416" y="9730997"/>
            <a:ext cx="237314" cy="23731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F5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6900648" y="9258300"/>
            <a:ext cx="1300211" cy="1300211"/>
          </a:xfrm>
          <a:custGeom>
            <a:avLst/>
            <a:gdLst/>
            <a:ahLst/>
            <a:cxnLst/>
            <a:rect r="r" b="b" t="t" l="l"/>
            <a:pathLst>
              <a:path h="1300211" w="1300211">
                <a:moveTo>
                  <a:pt x="0" y="0"/>
                </a:moveTo>
                <a:lnTo>
                  <a:pt x="1300211" y="0"/>
                </a:lnTo>
                <a:lnTo>
                  <a:pt x="1300211" y="1300211"/>
                </a:lnTo>
                <a:lnTo>
                  <a:pt x="0" y="1300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7486171" y="8800855"/>
            <a:ext cx="244503" cy="24450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89A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688337" y="8758364"/>
            <a:ext cx="424621" cy="42462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89A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5400000">
            <a:off x="6399151" y="-2223513"/>
            <a:ext cx="14305399" cy="14734025"/>
          </a:xfrm>
          <a:custGeom>
            <a:avLst/>
            <a:gdLst/>
            <a:ahLst/>
            <a:cxnLst/>
            <a:rect r="r" b="b" t="t" l="l"/>
            <a:pathLst>
              <a:path h="14734025" w="14305399">
                <a:moveTo>
                  <a:pt x="0" y="0"/>
                </a:moveTo>
                <a:lnTo>
                  <a:pt x="14305399" y="0"/>
                </a:lnTo>
                <a:lnTo>
                  <a:pt x="14305399" y="14734026"/>
                </a:lnTo>
                <a:lnTo>
                  <a:pt x="0" y="147340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881148" y="1570176"/>
            <a:ext cx="15023750" cy="8244283"/>
          </a:xfrm>
          <a:custGeom>
            <a:avLst/>
            <a:gdLst/>
            <a:ahLst/>
            <a:cxnLst/>
            <a:rect r="r" b="b" t="t" l="l"/>
            <a:pathLst>
              <a:path h="8244283" w="15023750">
                <a:moveTo>
                  <a:pt x="0" y="0"/>
                </a:moveTo>
                <a:lnTo>
                  <a:pt x="15023750" y="0"/>
                </a:lnTo>
                <a:lnTo>
                  <a:pt x="15023750" y="8244283"/>
                </a:lnTo>
                <a:lnTo>
                  <a:pt x="0" y="82442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395803"/>
            <a:ext cx="6557630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00334E"/>
                </a:solidFill>
                <a:latin typeface="Poppins Bold"/>
                <a:ea typeface="Poppins Bold"/>
                <a:cs typeface="Poppins Bold"/>
                <a:sym typeface="Poppins Bold"/>
              </a:rPr>
              <a:t>Loading Matrix</a:t>
            </a:r>
          </a:p>
        </p:txBody>
      </p:sp>
    </p:spTree>
  </p:cSld>
  <p:clrMapOvr>
    <a:masterClrMapping/>
  </p:clrMapOvr>
  <p:transition spd="fast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44143" y="445871"/>
            <a:ext cx="329485" cy="32948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89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211380" y="6572211"/>
            <a:ext cx="1240080" cy="1240080"/>
          </a:xfrm>
          <a:custGeom>
            <a:avLst/>
            <a:gdLst/>
            <a:ahLst/>
            <a:cxnLst/>
            <a:rect r="r" b="b" t="t" l="l"/>
            <a:pathLst>
              <a:path h="1240080" w="1240080">
                <a:moveTo>
                  <a:pt x="0" y="0"/>
                </a:moveTo>
                <a:lnTo>
                  <a:pt x="1240080" y="0"/>
                </a:lnTo>
                <a:lnTo>
                  <a:pt x="1240080" y="1240080"/>
                </a:lnTo>
                <a:lnTo>
                  <a:pt x="0" y="1240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50654" y="8758364"/>
            <a:ext cx="329485" cy="32948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F5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55880" y="9365442"/>
            <a:ext cx="449017" cy="44901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41416" y="9730997"/>
            <a:ext cx="237314" cy="23731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F5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6900648" y="9258300"/>
            <a:ext cx="1300211" cy="1300211"/>
          </a:xfrm>
          <a:custGeom>
            <a:avLst/>
            <a:gdLst/>
            <a:ahLst/>
            <a:cxnLst/>
            <a:rect r="r" b="b" t="t" l="l"/>
            <a:pathLst>
              <a:path h="1300211" w="1300211">
                <a:moveTo>
                  <a:pt x="0" y="0"/>
                </a:moveTo>
                <a:lnTo>
                  <a:pt x="1300211" y="0"/>
                </a:lnTo>
                <a:lnTo>
                  <a:pt x="1300211" y="1300211"/>
                </a:lnTo>
                <a:lnTo>
                  <a:pt x="0" y="13002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7486171" y="8800855"/>
            <a:ext cx="244503" cy="244503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89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688337" y="8758364"/>
            <a:ext cx="424621" cy="424621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89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5400000">
            <a:off x="12683257" y="-2223513"/>
            <a:ext cx="14305399" cy="14734025"/>
          </a:xfrm>
          <a:custGeom>
            <a:avLst/>
            <a:gdLst/>
            <a:ahLst/>
            <a:cxnLst/>
            <a:rect r="r" b="b" t="t" l="l"/>
            <a:pathLst>
              <a:path h="14734025" w="14305399">
                <a:moveTo>
                  <a:pt x="0" y="0"/>
                </a:moveTo>
                <a:lnTo>
                  <a:pt x="14305399" y="0"/>
                </a:lnTo>
                <a:lnTo>
                  <a:pt x="14305399" y="14734026"/>
                </a:lnTo>
                <a:lnTo>
                  <a:pt x="0" y="147340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80389" y="1677565"/>
            <a:ext cx="7829819" cy="2325689"/>
          </a:xfrm>
          <a:custGeom>
            <a:avLst/>
            <a:gdLst/>
            <a:ahLst/>
            <a:cxnLst/>
            <a:rect r="r" b="b" t="t" l="l"/>
            <a:pathLst>
              <a:path h="2325689" w="7829819">
                <a:moveTo>
                  <a:pt x="0" y="0"/>
                </a:moveTo>
                <a:lnTo>
                  <a:pt x="7829819" y="0"/>
                </a:lnTo>
                <a:lnTo>
                  <a:pt x="7829819" y="2325689"/>
                </a:lnTo>
                <a:lnTo>
                  <a:pt x="0" y="23256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667326" y="1677565"/>
            <a:ext cx="7591974" cy="2466653"/>
          </a:xfrm>
          <a:custGeom>
            <a:avLst/>
            <a:gdLst/>
            <a:ahLst/>
            <a:cxnLst/>
            <a:rect r="r" b="b" t="t" l="l"/>
            <a:pathLst>
              <a:path h="2466653" w="7591974">
                <a:moveTo>
                  <a:pt x="0" y="0"/>
                </a:moveTo>
                <a:lnTo>
                  <a:pt x="7591974" y="0"/>
                </a:lnTo>
                <a:lnTo>
                  <a:pt x="7591974" y="2466653"/>
                </a:lnTo>
                <a:lnTo>
                  <a:pt x="0" y="24666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34379" y="4394050"/>
            <a:ext cx="8197953" cy="1881497"/>
          </a:xfrm>
          <a:custGeom>
            <a:avLst/>
            <a:gdLst/>
            <a:ahLst/>
            <a:cxnLst/>
            <a:rect r="r" b="b" t="t" l="l"/>
            <a:pathLst>
              <a:path h="1881497" w="8197953">
                <a:moveTo>
                  <a:pt x="0" y="0"/>
                </a:moveTo>
                <a:lnTo>
                  <a:pt x="8197953" y="0"/>
                </a:lnTo>
                <a:lnTo>
                  <a:pt x="8197953" y="1881498"/>
                </a:lnTo>
                <a:lnTo>
                  <a:pt x="0" y="188149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767446" y="4569479"/>
            <a:ext cx="7591974" cy="1530640"/>
          </a:xfrm>
          <a:custGeom>
            <a:avLst/>
            <a:gdLst/>
            <a:ahLst/>
            <a:cxnLst/>
            <a:rect r="r" b="b" t="t" l="l"/>
            <a:pathLst>
              <a:path h="1530640" w="7591974">
                <a:moveTo>
                  <a:pt x="0" y="0"/>
                </a:moveTo>
                <a:lnTo>
                  <a:pt x="7591974" y="0"/>
                </a:lnTo>
                <a:lnTo>
                  <a:pt x="7591974" y="1530640"/>
                </a:lnTo>
                <a:lnTo>
                  <a:pt x="0" y="153064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28700" y="6666073"/>
            <a:ext cx="8203632" cy="2075818"/>
          </a:xfrm>
          <a:custGeom>
            <a:avLst/>
            <a:gdLst/>
            <a:ahLst/>
            <a:cxnLst/>
            <a:rect r="r" b="b" t="t" l="l"/>
            <a:pathLst>
              <a:path h="2075818" w="8203632">
                <a:moveTo>
                  <a:pt x="0" y="0"/>
                </a:moveTo>
                <a:lnTo>
                  <a:pt x="8203632" y="0"/>
                </a:lnTo>
                <a:lnTo>
                  <a:pt x="8203632" y="2075818"/>
                </a:lnTo>
                <a:lnTo>
                  <a:pt x="0" y="207581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867567" y="6666073"/>
            <a:ext cx="7391733" cy="2072037"/>
          </a:xfrm>
          <a:custGeom>
            <a:avLst/>
            <a:gdLst/>
            <a:ahLst/>
            <a:cxnLst/>
            <a:rect r="r" b="b" t="t" l="l"/>
            <a:pathLst>
              <a:path h="2072037" w="7391733">
                <a:moveTo>
                  <a:pt x="0" y="0"/>
                </a:moveTo>
                <a:lnTo>
                  <a:pt x="7391733" y="0"/>
                </a:lnTo>
                <a:lnTo>
                  <a:pt x="7391733" y="2072036"/>
                </a:lnTo>
                <a:lnTo>
                  <a:pt x="0" y="207203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395803"/>
            <a:ext cx="15659637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00334E"/>
                </a:solidFill>
                <a:latin typeface="Poppins Bold"/>
                <a:ea typeface="Poppins Bold"/>
                <a:cs typeface="Poppins Bold"/>
                <a:sym typeface="Poppins Bold"/>
              </a:rPr>
              <a:t>Factors Derived from Original Variables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149714" y="9021175"/>
            <a:ext cx="1326904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*Now we will convert this loading matrix into factor scores</a:t>
            </a:r>
          </a:p>
        </p:txBody>
      </p:sp>
    </p:spTree>
  </p:cSld>
  <p:clrMapOvr>
    <a:masterClrMapping/>
  </p:clrMapOvr>
  <p:transition spd="fast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2683257" y="-2223513"/>
            <a:ext cx="14305399" cy="14734025"/>
          </a:xfrm>
          <a:custGeom>
            <a:avLst/>
            <a:gdLst/>
            <a:ahLst/>
            <a:cxnLst/>
            <a:rect r="r" b="b" t="t" l="l"/>
            <a:pathLst>
              <a:path h="14734025" w="14305399">
                <a:moveTo>
                  <a:pt x="0" y="0"/>
                </a:moveTo>
                <a:lnTo>
                  <a:pt x="14305399" y="0"/>
                </a:lnTo>
                <a:lnTo>
                  <a:pt x="14305399" y="14734026"/>
                </a:lnTo>
                <a:lnTo>
                  <a:pt x="0" y="14734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61223" y="942975"/>
            <a:ext cx="926777" cy="926777"/>
          </a:xfrm>
          <a:custGeom>
            <a:avLst/>
            <a:gdLst/>
            <a:ahLst/>
            <a:cxnLst/>
            <a:rect r="r" b="b" t="t" l="l"/>
            <a:pathLst>
              <a:path h="926777" w="926777">
                <a:moveTo>
                  <a:pt x="0" y="0"/>
                </a:moveTo>
                <a:lnTo>
                  <a:pt x="926777" y="0"/>
                </a:lnTo>
                <a:lnTo>
                  <a:pt x="926777" y="926777"/>
                </a:lnTo>
                <a:lnTo>
                  <a:pt x="0" y="9267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782584" y="360146"/>
            <a:ext cx="329485" cy="32948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715851" y="1294328"/>
            <a:ext cx="231476" cy="23147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668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63884" y="3988747"/>
            <a:ext cx="7058280" cy="3817491"/>
            <a:chOff x="0" y="0"/>
            <a:chExt cx="9411040" cy="508998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1048138"/>
              <a:ext cx="7215737" cy="4041849"/>
            </a:xfrm>
            <a:custGeom>
              <a:avLst/>
              <a:gdLst/>
              <a:ahLst/>
              <a:cxnLst/>
              <a:rect r="r" b="b" t="t" l="l"/>
              <a:pathLst>
                <a:path h="4041849" w="7215737">
                  <a:moveTo>
                    <a:pt x="0" y="0"/>
                  </a:moveTo>
                  <a:lnTo>
                    <a:pt x="7215737" y="0"/>
                  </a:lnTo>
                  <a:lnTo>
                    <a:pt x="7215737" y="4041849"/>
                  </a:lnTo>
                  <a:lnTo>
                    <a:pt x="0" y="40418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0" y="-66675"/>
              <a:ext cx="9411040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9"/>
                </a:lnSpc>
              </a:pPr>
              <a:r>
                <a:rPr lang="en-US" sz="33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Factor Score Overview: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622165" y="3731572"/>
            <a:ext cx="10473899" cy="4201424"/>
            <a:chOff x="0" y="0"/>
            <a:chExt cx="13965199" cy="560189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1027853"/>
              <a:ext cx="13965199" cy="4574045"/>
            </a:xfrm>
            <a:custGeom>
              <a:avLst/>
              <a:gdLst/>
              <a:ahLst/>
              <a:cxnLst/>
              <a:rect r="r" b="b" t="t" l="l"/>
              <a:pathLst>
                <a:path h="4574045" w="13965199">
                  <a:moveTo>
                    <a:pt x="0" y="0"/>
                  </a:moveTo>
                  <a:lnTo>
                    <a:pt x="13965199" y="0"/>
                  </a:lnTo>
                  <a:lnTo>
                    <a:pt x="13965199" y="4574045"/>
                  </a:lnTo>
                  <a:lnTo>
                    <a:pt x="0" y="45740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0" y="-66675"/>
              <a:ext cx="9411040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9"/>
                </a:lnSpc>
              </a:pPr>
              <a:r>
                <a:rPr lang="en-US" sz="33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Regression Analysis Output: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15741" y="374650"/>
            <a:ext cx="8937778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00334E"/>
                </a:solidFill>
                <a:latin typeface="Poppins Bold"/>
                <a:ea typeface="Poppins Bold"/>
                <a:cs typeface="Poppins Bold"/>
                <a:sym typeface="Poppins Bold"/>
              </a:rPr>
              <a:t>Regression Analysis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7738" y="1812602"/>
            <a:ext cx="16332523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will check the relationship between our Dependent variable (On a scale from 1 to 10, how likely are you to buy Maggi Masala again and recommend it to others? Using Factor scores generated with linear regression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77050" y="8209220"/>
            <a:ext cx="1453390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Summary: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R-squared: 44.31%, Adjusted R-squared: 42.54%, p-value: 2.2e-16</a:t>
            </a:r>
          </a:p>
        </p:txBody>
      </p:sp>
    </p:spTree>
  </p:cSld>
  <p:clrMapOvr>
    <a:masterClrMapping/>
  </p:clrMapOvr>
  <p:transition spd="fast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7569606" y="-1499480"/>
            <a:ext cx="14305399" cy="14734025"/>
          </a:xfrm>
          <a:custGeom>
            <a:avLst/>
            <a:gdLst/>
            <a:ahLst/>
            <a:cxnLst/>
            <a:rect r="r" b="b" t="t" l="l"/>
            <a:pathLst>
              <a:path h="14734025" w="14305399">
                <a:moveTo>
                  <a:pt x="0" y="0"/>
                </a:moveTo>
                <a:lnTo>
                  <a:pt x="14305399" y="0"/>
                </a:lnTo>
                <a:lnTo>
                  <a:pt x="14305399" y="14734025"/>
                </a:lnTo>
                <a:lnTo>
                  <a:pt x="0" y="147340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8105" y="1111011"/>
            <a:ext cx="5152374" cy="8627231"/>
          </a:xfrm>
          <a:custGeom>
            <a:avLst/>
            <a:gdLst/>
            <a:ahLst/>
            <a:cxnLst/>
            <a:rect r="r" b="b" t="t" l="l"/>
            <a:pathLst>
              <a:path h="8627231" w="5152374">
                <a:moveTo>
                  <a:pt x="0" y="0"/>
                </a:moveTo>
                <a:lnTo>
                  <a:pt x="5152374" y="0"/>
                </a:lnTo>
                <a:lnTo>
                  <a:pt x="5152374" y="8627231"/>
                </a:lnTo>
                <a:lnTo>
                  <a:pt x="0" y="8627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79252" y="9117484"/>
            <a:ext cx="1076894" cy="1076894"/>
          </a:xfrm>
          <a:custGeom>
            <a:avLst/>
            <a:gdLst/>
            <a:ahLst/>
            <a:cxnLst/>
            <a:rect r="r" b="b" t="t" l="l"/>
            <a:pathLst>
              <a:path h="1076894" w="1076894">
                <a:moveTo>
                  <a:pt x="0" y="0"/>
                </a:moveTo>
                <a:lnTo>
                  <a:pt x="1076894" y="0"/>
                </a:lnTo>
                <a:lnTo>
                  <a:pt x="1076894" y="1076894"/>
                </a:lnTo>
                <a:lnTo>
                  <a:pt x="0" y="10768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656146" y="8723747"/>
            <a:ext cx="299459" cy="29945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F5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54128" y="6452793"/>
            <a:ext cx="538447" cy="53844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668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963778" y="6126614"/>
            <a:ext cx="269223" cy="26922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49378" y="697087"/>
            <a:ext cx="1076894" cy="1076894"/>
          </a:xfrm>
          <a:custGeom>
            <a:avLst/>
            <a:gdLst/>
            <a:ahLst/>
            <a:cxnLst/>
            <a:rect r="r" b="b" t="t" l="l"/>
            <a:pathLst>
              <a:path h="1076894" w="1076894">
                <a:moveTo>
                  <a:pt x="0" y="0"/>
                </a:moveTo>
                <a:lnTo>
                  <a:pt x="1076894" y="0"/>
                </a:lnTo>
                <a:lnTo>
                  <a:pt x="1076894" y="1076894"/>
                </a:lnTo>
                <a:lnTo>
                  <a:pt x="0" y="1076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546949" y="293520"/>
            <a:ext cx="403567" cy="403567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668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25732" y="2551680"/>
            <a:ext cx="302968" cy="30296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F5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267001" y="523031"/>
            <a:ext cx="9158169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00334E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193730" y="2038550"/>
            <a:ext cx="11610230" cy="6685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1118" indent="-410559" lvl="1">
              <a:lnSpc>
                <a:spcPts val="5324"/>
              </a:lnSpc>
              <a:buFont typeface="Arial"/>
              <a:buChar char="•"/>
            </a:pPr>
            <a:r>
              <a:rPr lang="en-US" sz="3803">
                <a:solidFill>
                  <a:srgbClr val="22668D"/>
                </a:solidFill>
                <a:latin typeface="Poppins"/>
                <a:ea typeface="Poppins"/>
                <a:cs typeface="Poppins"/>
                <a:sym typeface="Poppins"/>
              </a:rPr>
              <a:t>We have successfully reduced 29 variables into 6 factors that contributes in  repurchasing the Maggi Masala.  </a:t>
            </a:r>
          </a:p>
          <a:p>
            <a:pPr algn="l">
              <a:lnSpc>
                <a:spcPts val="5324"/>
              </a:lnSpc>
            </a:pPr>
          </a:p>
          <a:p>
            <a:pPr algn="l" marL="821118" indent="-410559" lvl="1">
              <a:lnSpc>
                <a:spcPts val="5324"/>
              </a:lnSpc>
              <a:buFont typeface="Arial"/>
              <a:buChar char="•"/>
            </a:pPr>
            <a:r>
              <a:rPr lang="en-US" sz="3803">
                <a:solidFill>
                  <a:srgbClr val="22668D"/>
                </a:solidFill>
                <a:latin typeface="Poppins"/>
                <a:ea typeface="Poppins"/>
                <a:cs typeface="Poppins"/>
                <a:sym typeface="Poppins"/>
              </a:rPr>
              <a:t>Using this comprehensive analysis stakeholders can Improve their Sales strategy and Branding</a:t>
            </a:r>
            <a:r>
              <a:rPr lang="en-US" sz="3803">
                <a:solidFill>
                  <a:srgbClr val="22668D"/>
                </a:solidFill>
                <a:latin typeface="Poppins"/>
                <a:ea typeface="Poppins"/>
                <a:cs typeface="Poppins"/>
                <a:sym typeface="Poppins"/>
              </a:rPr>
              <a:t> strategy for repositioning Maggi Masala as a major spice mix brand in a very competitive market.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</p:spTree>
  </p:cSld>
  <p:clrMapOvr>
    <a:masterClrMapping/>
  </p:clrMapOvr>
  <p:transition spd="fast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2949196" y="-2872115"/>
            <a:ext cx="6648368" cy="14840344"/>
            <a:chOff x="0" y="0"/>
            <a:chExt cx="660400" cy="14741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1474131"/>
            </a:xfrm>
            <a:custGeom>
              <a:avLst/>
              <a:gdLst/>
              <a:ahLst/>
              <a:cxnLst/>
              <a:rect r="r" b="b" t="t" l="l"/>
              <a:pathLst>
                <a:path h="1474131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43192"/>
                  </a:cubicBezTo>
                  <a:lnTo>
                    <a:pt x="660400" y="1474131"/>
                  </a:lnTo>
                  <a:lnTo>
                    <a:pt x="0" y="1474131"/>
                  </a:lnTo>
                  <a:lnTo>
                    <a:pt x="0" y="34403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FC900"/>
            </a:solidFill>
            <a:ln w="57150" cap="sq">
              <a:solidFill>
                <a:srgbClr val="FFF89A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60325"/>
              <a:ext cx="660400" cy="14138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980394" y="406642"/>
            <a:ext cx="1226594" cy="17388618"/>
            <a:chOff x="0" y="0"/>
            <a:chExt cx="660400" cy="93620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9362060"/>
            </a:xfrm>
            <a:custGeom>
              <a:avLst/>
              <a:gdLst/>
              <a:ahLst/>
              <a:cxnLst/>
              <a:rect r="r" b="b" t="t" l="l"/>
              <a:pathLst>
                <a:path h="936206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518405"/>
                  </a:cubicBezTo>
                  <a:lnTo>
                    <a:pt x="660400" y="9362060"/>
                  </a:lnTo>
                  <a:lnTo>
                    <a:pt x="0" y="9362060"/>
                  </a:lnTo>
                  <a:lnTo>
                    <a:pt x="0" y="524968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FF89A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60325"/>
              <a:ext cx="660400" cy="9301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930525" y="1318437"/>
            <a:ext cx="377093" cy="37709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F5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26906" y="5419030"/>
            <a:ext cx="541473" cy="54147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F5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3693553" y="1841353"/>
            <a:ext cx="825921" cy="825921"/>
          </a:xfrm>
          <a:custGeom>
            <a:avLst/>
            <a:gdLst/>
            <a:ahLst/>
            <a:cxnLst/>
            <a:rect r="r" b="b" t="t" l="l"/>
            <a:pathLst>
              <a:path h="825921" w="825921">
                <a:moveTo>
                  <a:pt x="0" y="0"/>
                </a:moveTo>
                <a:lnTo>
                  <a:pt x="825921" y="0"/>
                </a:lnTo>
                <a:lnTo>
                  <a:pt x="825921" y="825921"/>
                </a:lnTo>
                <a:lnTo>
                  <a:pt x="0" y="8259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930525" y="8037548"/>
            <a:ext cx="1140229" cy="1140229"/>
          </a:xfrm>
          <a:custGeom>
            <a:avLst/>
            <a:gdLst/>
            <a:ahLst/>
            <a:cxnLst/>
            <a:rect r="r" b="b" t="t" l="l"/>
            <a:pathLst>
              <a:path h="1140229" w="1140229">
                <a:moveTo>
                  <a:pt x="0" y="0"/>
                </a:moveTo>
                <a:lnTo>
                  <a:pt x="1140229" y="0"/>
                </a:lnTo>
                <a:lnTo>
                  <a:pt x="1140229" y="1140229"/>
                </a:lnTo>
                <a:lnTo>
                  <a:pt x="0" y="11402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99436" y="3111930"/>
            <a:ext cx="8964193" cy="1737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439"/>
              </a:lnSpc>
              <a:spcBef>
                <a:spcPct val="0"/>
              </a:spcBef>
            </a:pPr>
            <a:r>
              <a:rPr lang="en-US" b="true" sz="9600">
                <a:solidFill>
                  <a:srgbClr val="00334E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9436" y="4898335"/>
            <a:ext cx="6799905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0334E"/>
                </a:solidFill>
                <a:latin typeface="Poppins Bold"/>
                <a:ea typeface="Poppins Bold"/>
                <a:cs typeface="Poppins Bold"/>
                <a:sym typeface="Poppins Bold"/>
              </a:rPr>
              <a:t>For your attention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8486" y="8774878"/>
            <a:ext cx="6780855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22668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Prepared by group 12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6689186" y="2382217"/>
            <a:ext cx="570114" cy="57011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668D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3686933" y="1211898"/>
            <a:ext cx="3572367" cy="2536380"/>
          </a:xfrm>
          <a:custGeom>
            <a:avLst/>
            <a:gdLst/>
            <a:ahLst/>
            <a:cxnLst/>
            <a:rect r="r" b="b" t="t" l="l"/>
            <a:pathLst>
              <a:path h="2536380" w="3572367">
                <a:moveTo>
                  <a:pt x="0" y="0"/>
                </a:moveTo>
                <a:lnTo>
                  <a:pt x="3572367" y="0"/>
                </a:lnTo>
                <a:lnTo>
                  <a:pt x="3572367" y="2536380"/>
                </a:lnTo>
                <a:lnTo>
                  <a:pt x="0" y="25363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DAGgT3xF52E</dc:identifier>
  <dcterms:modified xsi:type="dcterms:W3CDTF">2011-08-01T06:04:30Z</dcterms:modified>
  <cp:revision>1</cp:revision>
  <dc:title>Maggi_Masala_Group12</dc:title>
</cp:coreProperties>
</file>